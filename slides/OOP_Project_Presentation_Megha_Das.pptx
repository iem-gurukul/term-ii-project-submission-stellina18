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title"/>
          </p:nvPr>
        </p:nvSpPr>
        <p:spPr>
          <a:xfrm>
            <a:off x="0" y="445025"/>
            <a:ext cx="9144000" cy="572701"/>
          </a:xfrm>
          <a:prstGeom prst="rect">
            <a:avLst/>
          </a:prstGeom>
        </p:spPr>
        <p:txBody>
          <a:bodyPr/>
          <a:lstStyle>
            <a:lvl1pPr algn="ctr">
              <a:defRPr b="1" sz="2300">
                <a:solidFill>
                  <a:srgbClr val="66666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Smart Task Scheduler with Dynamic Strategy Execution</a:t>
            </a:r>
          </a:p>
        </p:txBody>
      </p:sp>
      <p:sp>
        <p:nvSpPr>
          <p:cNvPr id="110" name="Google Shape;55;p13"/>
          <p:cNvSpPr txBox="1"/>
          <p:nvPr>
            <p:ph type="body" idx="1"/>
          </p:nvPr>
        </p:nvSpPr>
        <p:spPr>
          <a:xfrm>
            <a:off x="311699" y="1017724"/>
            <a:ext cx="8520602" cy="3673502"/>
          </a:xfrm>
          <a:prstGeom prst="rect">
            <a:avLst/>
          </a:prstGeom>
        </p:spPr>
        <p:txBody>
          <a:bodyPr/>
          <a:lstStyle/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  Problem Statement:</a:t>
            </a:r>
          </a:p>
          <a:p>
            <a:pPr lvl="1" marL="914400"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➢"/>
              <a:defRPr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Manual sorting and static priority assignments lead to missed deadlines.</a:t>
            </a:r>
          </a:p>
          <a:p>
            <a:pPr lvl="1" marL="914400"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➢"/>
              <a:defRPr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Users face "unproductive workload spikes" when schedules don't adapt to change.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Target Users:</a:t>
            </a:r>
            <a:r>
              <a:rPr b="0"/>
              <a:t> College students and early-career professionals needing automated reordering.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Current Limitation:</a:t>
            </a:r>
            <a:r>
              <a:rPr b="0"/>
              <a:t> Existing applications rely on manual sorting and static priority assignments, leading to missed deadlines.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System Goal</a:t>
            </a:r>
            <a:r>
              <a:rPr b="0"/>
              <a:t>: Address productivity gaps by modeling tasks through a structured object-oriented hierarchy.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Automated Logic:</a:t>
            </a:r>
            <a:r>
              <a:rPr b="0"/>
              <a:t> A pluggable scheduling mechanism automatically reorders tasks as conditions evolve.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Core Innovation:</a:t>
            </a:r>
            <a:r>
              <a:rPr b="0"/>
              <a:t> Implementation of three interchangeable scheduling strategies that are switchable at runtime.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Conflict Management: </a:t>
            </a:r>
            <a:r>
              <a:rPr b="0"/>
              <a:t>Automatic detection and reporting of scheduling conflicts using the Observer design pattern.</a:t>
            </a:r>
          </a:p>
        </p:txBody>
      </p:sp>
      <p:sp>
        <p:nvSpPr>
          <p:cNvPr id="111" name="Slide Number"/>
          <p:cNvSpPr txBox="1"/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0;p1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300">
                <a:solidFill>
                  <a:srgbClr val="66666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System Design</a:t>
            </a:r>
          </a:p>
        </p:txBody>
      </p:sp>
      <p:pic>
        <p:nvPicPr>
          <p:cNvPr id="114" name="Java Task Orchestration-2026-03-27-065953.pngGoogle Shape;61;p14" descr="Java Task Orchestration-2026-03-27-065953.pngGoogle Shape;61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" y="1463749"/>
            <a:ext cx="8839204" cy="30859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66;p1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300">
                <a:solidFill>
                  <a:srgbClr val="66666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 OOP Concepts Used</a:t>
            </a:r>
          </a:p>
        </p:txBody>
      </p:sp>
      <p:sp>
        <p:nvSpPr>
          <p:cNvPr id="117" name="Google Shape;67;p15"/>
          <p:cNvSpPr txBox="1"/>
          <p:nvPr>
            <p:ph type="body" idx="1"/>
          </p:nvPr>
        </p:nvSpPr>
        <p:spPr>
          <a:xfrm>
            <a:off x="311699" y="1017724"/>
            <a:ext cx="8520602" cy="3694502"/>
          </a:xfrm>
          <a:prstGeom prst="rect">
            <a:avLst/>
          </a:prstGeom>
        </p:spPr>
        <p:txBody>
          <a:bodyPr/>
          <a:lstStyle/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Abstraction:</a:t>
            </a:r>
            <a:r>
              <a:rPr b="0"/>
              <a:t> The abstract Task class hides complexity and mandates urgency computation for all types.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Inheritance:</a:t>
            </a:r>
            <a:r>
              <a:rPr b="0"/>
              <a:t> OneTimeTask, RecurringTask, and UrgentTask reuse base logic for deadlines and validation.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Polymorphism:</a:t>
            </a:r>
            <a:r>
              <a:rPr b="0"/>
              <a:t> The UrgencyStrategy calls getUrgencyScore()—the system resolves the specific formula (One-time vs. Urgent) at runtime.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Design Patterns:</a:t>
            </a:r>
          </a:p>
          <a:p>
            <a:pPr lvl="1" marL="914400"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➢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 Strategy:</a:t>
            </a:r>
            <a:r>
              <a:rPr b="0"/>
              <a:t> Algorithms can be switched at runtime without modifying the manager.</a:t>
            </a:r>
          </a:p>
          <a:p>
            <a:pPr lvl="1" marL="914400"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➢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 Observer:</a:t>
            </a:r>
            <a:r>
              <a:rPr b="0"/>
              <a:t> Decouples conflict detection from core logic; observers receive unmodifiable snapshots.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Strategy Pattern</a:t>
            </a:r>
            <a:r>
              <a:rPr b="0"/>
              <a:t>: Selects and switches algorithms at runtime without modifying any existing classes.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Observer Pattern</a:t>
            </a:r>
            <a:r>
              <a:rPr b="0"/>
              <a:t>: Defines a one-to-many dependency where all registered observers are notified of list mutations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Custom Exceptions</a:t>
            </a:r>
            <a:r>
              <a:rPr b="0"/>
              <a:t>: Implements DeadlineConflictException to model distinct failure modes like workload caps.</a:t>
            </a:r>
          </a:p>
          <a:p>
            <a:pPr indent="-305434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Collections</a:t>
            </a:r>
            <a:r>
              <a:rPr b="0"/>
              <a:t>: Maintains a master list as an ArrayList&lt;Task&gt; to support random-access updates and sorting.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72;p1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300">
                <a:solidFill>
                  <a:srgbClr val="66666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Technical Highlight</a:t>
            </a:r>
          </a:p>
        </p:txBody>
      </p:sp>
      <p:sp>
        <p:nvSpPr>
          <p:cNvPr id="120" name="Google Shape;73;p16"/>
          <p:cNvSpPr txBox="1"/>
          <p:nvPr>
            <p:ph type="body" idx="1"/>
          </p:nvPr>
        </p:nvSpPr>
        <p:spPr>
          <a:xfrm>
            <a:off x="311699" y="1017725"/>
            <a:ext cx="8520602" cy="3684300"/>
          </a:xfrm>
          <a:prstGeom prst="rect">
            <a:avLst/>
          </a:prstGeom>
        </p:spPr>
        <p:txBody>
          <a:bodyPr/>
          <a:lstStyle/>
          <a:p>
            <a:pPr indent="-304800" algn="just">
              <a:lnSpc>
                <a:spcPct val="130000"/>
              </a:lnSpc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The Problem:</a:t>
            </a:r>
            <a:r>
              <a:rPr b="0"/>
              <a:t> Initial code used "instanceof" checks inside the </a:t>
            </a:r>
            <a:r>
              <a:rPr b="0">
                <a:solidFill>
                  <a:srgbClr val="188038"/>
                </a:solidFill>
              </a:rPr>
              <a:t>SchedulerManager</a:t>
            </a:r>
            <a:r>
              <a:rPr b="0"/>
              <a:t>, which was rigid and messy.</a:t>
            </a:r>
          </a:p>
          <a:p>
            <a:pPr indent="-304800" algn="just">
              <a:lnSpc>
                <a:spcPct val="130000"/>
              </a:lnSpc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The Solution:</a:t>
            </a:r>
            <a:r>
              <a:rPr b="0"/>
              <a:t> Moved logic into an abstract method on </a:t>
            </a:r>
            <a:r>
              <a:rPr b="0">
                <a:solidFill>
                  <a:srgbClr val="188038"/>
                </a:solidFill>
              </a:rPr>
              <a:t>Task</a:t>
            </a:r>
            <a:r>
              <a:rPr b="0"/>
              <a:t>. Now, each task "knows" its own urgency.</a:t>
            </a:r>
          </a:p>
          <a:p>
            <a:pPr indent="-304800" algn="just">
              <a:lnSpc>
                <a:spcPct val="130000"/>
              </a:lnSpc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Result:</a:t>
            </a:r>
            <a:r>
              <a:rPr b="0"/>
              <a:t> Adheres to the </a:t>
            </a:r>
            <a:r>
              <a:t>Open/Closed Principle</a:t>
            </a:r>
            <a:r>
              <a:rPr b="0"/>
              <a:t>—adding a new task type requires zero changes to the scheduling logic.</a:t>
            </a:r>
          </a:p>
          <a:p>
            <a:pPr indent="-304800" algn="just">
              <a:lnSpc>
                <a:spcPct val="130000"/>
              </a:lnSpc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JSON Persistence:</a:t>
            </a:r>
            <a:r>
              <a:rPr b="0"/>
              <a:t> Custom serializer built from scratch to handle subclass-specific fields like.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Type Support</a:t>
            </a:r>
            <a:r>
              <a:rPr b="0"/>
              <a:t>: Chose JSON over CSV to naturally support optional, type-specific fields like </a:t>
            </a:r>
            <a:r>
              <a:rPr b="0">
                <a:solidFill>
                  <a:srgbClr val="188038"/>
                </a:solidFill>
              </a:rPr>
              <a:t>intervalDays</a:t>
            </a:r>
            <a:r>
              <a:rPr b="0"/>
              <a:t>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Fail-Fast Design</a:t>
            </a:r>
            <a:r>
              <a:rPr b="0"/>
              <a:t>: Implemented constructor guard clauses to ensure invalid </a:t>
            </a:r>
            <a:r>
              <a:rPr b="0">
                <a:solidFill>
                  <a:srgbClr val="188038"/>
                </a:solidFill>
              </a:rPr>
              <a:t>Task</a:t>
            </a:r>
            <a:r>
              <a:rPr b="0"/>
              <a:t> objects cannot be created.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Observer Decoupling</a:t>
            </a:r>
            <a:r>
              <a:rPr b="0"/>
              <a:t>: Passed unmodifiable snapshots to observers to prevent accidental mutation of the live list.</a:t>
            </a:r>
          </a:p>
          <a:p>
            <a:pPr indent="-304800" algn="just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Checked Exceptions</a:t>
            </a:r>
            <a:r>
              <a:rPr b="0"/>
              <a:t>: Forced callers to handle scheduling conflicts explicitly by extending the </a:t>
            </a:r>
            <a:r>
              <a:rPr b="0">
                <a:solidFill>
                  <a:srgbClr val="188038"/>
                </a:solidFill>
              </a:rPr>
              <a:t>Exception</a:t>
            </a:r>
            <a:r>
              <a:rPr b="0"/>
              <a:t> class.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78;p17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300">
                <a:solidFill>
                  <a:srgbClr val="66666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 Workflow &amp; Error Handling</a:t>
            </a:r>
          </a:p>
        </p:txBody>
      </p:sp>
      <p:sp>
        <p:nvSpPr>
          <p:cNvPr id="123" name="Google Shape;79;p17"/>
          <p:cNvSpPr txBox="1"/>
          <p:nvPr>
            <p:ph type="body" idx="1"/>
          </p:nvPr>
        </p:nvSpPr>
        <p:spPr>
          <a:xfrm>
            <a:off x="311699" y="1017724"/>
            <a:ext cx="8520602" cy="3749401"/>
          </a:xfrm>
          <a:prstGeom prst="rect">
            <a:avLst/>
          </a:prstGeom>
        </p:spPr>
        <p:txBody>
          <a:bodyPr/>
          <a:lstStyle/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Font typeface="Bookman Old Style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Workflow:</a:t>
            </a:r>
          </a:p>
          <a:p>
            <a:pPr lvl="1" marL="914400" indent="-304800">
              <a:lnSpc>
                <a:spcPct val="130000"/>
              </a:lnSpc>
              <a:buClr>
                <a:srgbClr val="000000"/>
              </a:buClr>
              <a:buSzPts val="1200"/>
              <a:buChar char="➢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Creation:</a:t>
            </a:r>
            <a:r>
              <a:rPr b="0"/>
              <a:t> Add a RecurringTask (e.g., Weekly Progress Report).</a:t>
            </a:r>
          </a:p>
          <a:p>
            <a:pPr lvl="1" marL="914400" indent="-304800">
              <a:lnSpc>
                <a:spcPct val="130000"/>
              </a:lnSpc>
              <a:buClr>
                <a:srgbClr val="000000"/>
              </a:buClr>
              <a:buSzPts val="1200"/>
              <a:buChar char="➢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Dynamic Reorder:</a:t>
            </a:r>
            <a:r>
              <a:rPr b="0"/>
              <a:t> Switch strategy from "Priority" to "Urgency" and observe the list shift.</a:t>
            </a:r>
          </a:p>
          <a:p>
            <a:pPr lvl="1" marL="914400" indent="-304800">
              <a:lnSpc>
                <a:spcPct val="130000"/>
              </a:lnSpc>
              <a:buClr>
                <a:srgbClr val="000000"/>
              </a:buClr>
              <a:buSzPts val="1200"/>
              <a:buChar char="➢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Conflict Detection:</a:t>
            </a:r>
            <a:r>
              <a:rPr b="0"/>
              <a:t> Attempt to schedule &gt;12 hours on a single day.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Exception Handling:</a:t>
            </a:r>
            <a:r>
              <a:rPr b="0"/>
              <a:t> Show DeadlineConflictException providing specific feedback: </a:t>
            </a:r>
            <a:r>
              <a:rPr b="0" i="1"/>
              <a:t>"Adding this task would schedule 14h on [Date]"</a:t>
            </a:r>
            <a:r>
              <a:rPr b="0"/>
              <a:t> instead of a generic error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.</a:t>
            </a:r>
            <a:r>
              <a:rPr b="1"/>
              <a:t>Workload Status:</a:t>
            </a:r>
            <a:r>
              <a:t> Show the monitor classifying health as LIGHT, MODERATE, or OVERLOADED.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Automatic Conflict</a:t>
            </a:r>
            <a:r>
              <a:rPr b="0"/>
              <a:t>: Attempt to schedule more than 12 hours on one day to trigger a DeadlineConflictException.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Alert Notifications</a:t>
            </a:r>
            <a:r>
              <a:rPr b="0"/>
              <a:t>: Display emoji-coded alerts from the DeadlineConflictNotifier for upcoming or overdue tasks.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Data Persistence</a:t>
            </a:r>
            <a:r>
              <a:rPr b="0"/>
              <a:t>: Exit the application and reload to prove tasks are successfully reconstructed from tasks.json.</a:t>
            </a:r>
          </a:p>
          <a:p>
            <a:pPr indent="-304800">
              <a:lnSpc>
                <a:spcPct val="130000"/>
              </a:lnSpc>
              <a:buClr>
                <a:srgbClr val="000000"/>
              </a:buClr>
              <a:buSzPts val="1200"/>
              <a:buChar char="❖"/>
              <a:defRPr b="1" sz="12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Recurring Logic</a:t>
            </a:r>
            <a:r>
              <a:rPr b="0"/>
              <a:t>: Show how completing a RecurringTask automatically advances the deadline for the next occurrence.</a:t>
            </a:r>
          </a:p>
        </p:txBody>
      </p:sp>
      <p:sp>
        <p:nvSpPr>
          <p:cNvPr id="124" name="Slide Number"/>
          <p:cNvSpPr txBox="1"/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